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USM Trailblazers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C22"/>
                </a:solidFill>
                <a:latin typeface="Calibri"/>
              </a:rPr>
              <a:t>USM Student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C22"/>
                </a:solidFill>
                <a:latin typeface="Calibri"/>
              </a:rPr>
              <a:t>A Unified Smart Campus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E4E5A"/>
                </a:solidFill>
                <a:latin typeface="Calibri"/>
              </a:rPr>
              <a:t>One hub for study, MyCSD events, campus info, and community — built for USM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10896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04"/>
                </a:solidFill>
                <a:latin typeface="Calibri"/>
              </a:rPr>
              <a:t>SDG 4</a:t>
            </a:r>
          </a:p>
          <a:p>
            <a:pPr algn="l"/>
            <a:r>
              <a:rPr sz="1100" b="0">
                <a:solidFill>
                  <a:srgbClr val="4E4E5A"/>
                </a:solidFill>
                <a:latin typeface="Calibri"/>
              </a:rPr>
              <a:t>Quality Education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108960"/>
            <a:ext cx="228600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3246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04"/>
                </a:solidFill>
                <a:latin typeface="Calibri"/>
              </a:rPr>
              <a:t>SDG 9</a:t>
            </a:r>
          </a:p>
          <a:p>
            <a:pPr algn="l"/>
            <a:r>
              <a:rPr sz="1100" b="0">
                <a:solidFill>
                  <a:srgbClr val="4E4E5A"/>
                </a:solidFill>
                <a:latin typeface="Calibri"/>
              </a:rPr>
              <a:t>Industry &amp; Innovation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10896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246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04"/>
                </a:solidFill>
                <a:latin typeface="Calibri"/>
              </a:rPr>
              <a:t>SDG 11</a:t>
            </a:r>
          </a:p>
          <a:p>
            <a:pPr algn="l"/>
            <a:r>
              <a:rPr sz="1100" b="0">
                <a:solidFill>
                  <a:srgbClr val="4E4E5A"/>
                </a:solidFill>
                <a:latin typeface="Calibri"/>
              </a:rPr>
              <a:t>Sustainable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43484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Live prototype</a:t>
            </a:r>
          </a:p>
          <a:p>
            <a:pPr algn="l"/>
            <a:r>
              <a:rPr sz="1400" b="0">
                <a:solidFill>
                  <a:srgbClr val="1C1C22"/>
                </a:solidFill>
                <a:latin typeface="Calibri"/>
              </a:rPr>
              <a:t>https://makerpreneur.vercel.app/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188720"/>
            <a:ext cx="4114800" cy="4754880"/>
          </a:xfrm>
          <a:prstGeom prst="roundRect">
            <a:avLst>
              <a:gd name="adj" fmla="val 10000"/>
            </a:avLst>
          </a:prstGeom>
          <a:solidFill>
            <a:srgbClr val="5B4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7-min pitch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9659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1. Problem (real campus pain)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2. Validation evidence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3. Solution modules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4. Live demo (90 sec)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5. Budget &amp; seed use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6. Value + scale path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Team: USM Trailblazers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USM Trailblazers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C22"/>
                </a:solidFill>
                <a:latin typeface="Calibri"/>
              </a:rPr>
              <a:t>Campus </a:t>
            </a:r>
            <a:r>
              <a:rPr sz="3000" b="1">
                <a:solidFill>
                  <a:srgbClr val="7B6BC9"/>
                </a:solidFill>
                <a:latin typeface="Calibri"/>
              </a:rP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1C22"/>
                </a:solidFill>
                <a:latin typeface="Calibri"/>
              </a:rPr>
              <a:t>In USM, students still lack one cohesive smart campus ecosystem.</a:t>
            </a:r>
          </a:p>
          <a:p>
            <a:pPr algn="l"/>
            <a:r>
              <a:rPr sz="1000" b="0">
                <a:solidFill>
                  <a:srgbClr val="4E4E5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4E4E5A"/>
                </a:solidFill>
                <a:latin typeface="Calibri"/>
              </a:rPr>
              <a:t>Everyday campus life is managed across separate, isolated platforms.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43000"/>
            <a:ext cx="53035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2A2A"/>
                </a:solidFill>
                <a:latin typeface="Calibri"/>
              </a:rPr>
              <a:t>1. Missing day-to-day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937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No simple timetable organizer, reminders, or calendar for academic + campus life.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53035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7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2A2A"/>
                </a:solidFill>
                <a:latin typeface="Calibri"/>
              </a:rPr>
              <a:t>2. Decentralized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4937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Too many channels for announcements and information distribution.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434840"/>
            <a:ext cx="530352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57200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2A2A"/>
                </a:solidFill>
                <a:latin typeface="Calibri"/>
              </a:rPr>
              <a:t>3. Disconnected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92040"/>
            <a:ext cx="49377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No unified hub bridging academics, MyCSD extracurriculars, and campus community.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USM Trailblazers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C22"/>
                </a:solidFill>
                <a:latin typeface="Calibri"/>
              </a:rPr>
              <a:t>Why This Problem Is </a:t>
            </a:r>
            <a:r>
              <a:rPr sz="3000" b="1">
                <a:solidFill>
                  <a:srgbClr val="7B6BC9"/>
                </a:solidFill>
                <a:latin typeface="Calibri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E4E5A"/>
                </a:solidFill>
                <a:latin typeface="Calibri"/>
              </a:rPr>
              <a:t>USM currently relies on a fragmented digital ecosystem. Too many separate websites create confusion and low visibility for important campus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365760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BC9"/>
                </a:solidFill>
                <a:latin typeface="Calibri"/>
              </a:rPr>
              <a:t>Scattered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Data trapped in separate platforms makes academic + extracurricular tracking hard.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65760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BC9"/>
                </a:solidFill>
                <a:latin typeface="Calibri"/>
              </a:rPr>
              <a:t>Missed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Events and MyCSD point chances are overlooked because channels are scattered.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65760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BC9"/>
                </a:solidFill>
                <a:latin typeface="Calibri"/>
              </a:rPr>
              <a:t>Missed HEBAT agendas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286000"/>
            <a:ext cx="3291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Fragmented tools weaken day-to-day support for Holistic, Entrepreneurial, Balanced, Articulate, Thinking (HEBAT).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160520"/>
            <a:ext cx="1133856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7B6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6BC9"/>
                </a:solidFill>
                <a:latin typeface="Calibri"/>
              </a:rPr>
              <a:t>VALIDATION EVIDENCE — replace with your real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• Survey N = ____   |   ____% use 3+ campus platforms weekly</a:t>
            </a:r>
          </a:p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• ____% missed at least one MyCSD opportunity this semester</a:t>
            </a:r>
          </a:p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• Interview quote: “________________________________”</a:t>
            </a:r>
          </a:p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• Observation: eLearn / email / Telegram / portal used separately</a:t>
            </a:r>
          </a:p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Guidebook requires: interview / survey / observation / user-demo proof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USM Trailblazers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C22"/>
                </a:solidFill>
                <a:latin typeface="Calibri"/>
              </a:rPr>
              <a:t>Solution: </a:t>
            </a:r>
            <a:r>
              <a:rPr sz="3000" b="1">
                <a:solidFill>
                  <a:srgbClr val="7B6BC9"/>
                </a:solidFill>
                <a:latin typeface="Calibri"/>
              </a:rPr>
              <a:t>StudentHub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4E5A"/>
                </a:solidFill>
                <a:latin typeface="Calibri"/>
              </a:rPr>
              <a:t>Core modules demonstrable now on the live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9E44"/>
                </a:solidFill>
                <a:latin typeface="Calibri"/>
              </a:rPr>
              <a:t>Home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Reminders, schedule, MyCSD points, wallet coins, study streak — one morning glance.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9E44"/>
                </a:solidFill>
                <a:latin typeface="Calibri"/>
              </a:rPr>
              <a:t>Study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01168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Tasks, subjects, and resource library in one place for academic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55448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691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9E44"/>
                </a:solidFill>
                <a:latin typeface="Calibri"/>
              </a:rPr>
              <a:t>MyCSD &amp;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01168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Find campus activities and track points to reduce missed opportunities.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66160"/>
            <a:ext cx="3657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9E44"/>
                </a:solidFill>
                <a:latin typeface="Calibri"/>
              </a:rPr>
              <a:t>Campus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23360"/>
            <a:ext cx="32918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Shuttle, library hours, and alerts as a single source of campus truth.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566160"/>
            <a:ext cx="3657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703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9E44"/>
                </a:solidFill>
                <a:latin typeface="Calibri"/>
              </a:rPr>
              <a:t>On-Campus 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023360"/>
            <a:ext cx="32918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Feed, people discovery, and collaboration building blocks.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566160"/>
            <a:ext cx="3657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3703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4BA9"/>
                </a:solidFill>
                <a:latin typeface="Calibri"/>
              </a:rPr>
              <a:t>Roadmap (next)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4023360"/>
            <a:ext cx="32918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Study Chatbot · Subject Summary · Exam Revision · SOS Alerts · Helpdesk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34924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Honest demo tip: Show live modules first. Present AI/SOS as designed next features with budget already allocated — do not overclaim unfinished functions.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USM Trailblazers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C22"/>
                </a:solidFill>
                <a:latin typeface="Calibri"/>
              </a:rPr>
              <a:t>Prototype Demo + </a:t>
            </a:r>
            <a:r>
              <a:rPr sz="3000" b="1">
                <a:solidFill>
                  <a:srgbClr val="7B6BC9"/>
                </a:solidFill>
                <a:latin typeface="Calibri"/>
              </a:rP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694944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6BC9"/>
                </a:solidFill>
                <a:latin typeface="Calibri"/>
              </a:rPr>
              <a:t>Live demo path (≈90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6492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1C22"/>
                </a:solidFill>
                <a:latin typeface="Calibri"/>
              </a:rPr>
              <a:t>1. Sign in → Home metrics &amp; reminders</a:t>
            </a:r>
          </a:p>
          <a:p>
            <a:pPr algn="l"/>
            <a:r>
              <a:rPr sz="1500" b="0">
                <a:solidFill>
                  <a:srgbClr val="1C1C22"/>
                </a:solidFill>
                <a:latin typeface="Calibri"/>
              </a:rPr>
              <a:t>2. Study → planner, subjects, resources</a:t>
            </a:r>
          </a:p>
          <a:p>
            <a:pPr algn="l"/>
            <a:r>
              <a:rPr sz="1500" b="0">
                <a:solidFill>
                  <a:srgbClr val="1C1C22"/>
                </a:solidFill>
                <a:latin typeface="Calibri"/>
              </a:rPr>
              <a:t>3. MyCSD → events &amp; points tracking</a:t>
            </a:r>
          </a:p>
          <a:p>
            <a:pPr algn="l"/>
            <a:r>
              <a:rPr sz="1500" b="0">
                <a:solidFill>
                  <a:srgbClr val="1C1C22"/>
                </a:solidFill>
                <a:latin typeface="Calibri"/>
              </a:rPr>
              <a:t>4. Campus → shuttle / library / alerts</a:t>
            </a:r>
          </a:p>
          <a:p>
            <a:pPr algn="l"/>
            <a:r>
              <a:rPr sz="1500" b="0">
                <a:solidFill>
                  <a:srgbClr val="1C1C22"/>
                </a:solidFill>
                <a:latin typeface="Calibri"/>
              </a:rPr>
              <a:t>5. Community → campus activity feed</a:t>
            </a:r>
          </a:p>
          <a:p>
            <a:pPr algn="l"/>
            <a:r>
              <a:rPr sz="1500" b="0">
                <a:solidFill>
                  <a:srgbClr val="1C1C22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1C1C22"/>
                </a:solidFill>
                <a:latin typeface="Calibri"/>
              </a:rPr>
              <a:t>URL: https://makerpreneur.vercel.app/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2344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6BC9"/>
                </a:solidFill>
                <a:latin typeface="Calibri"/>
              </a:rPr>
              <a:t>FRONT-END</a:t>
            </a:r>
          </a:p>
          <a:p>
            <a:pPr algn="l"/>
            <a:r>
              <a:rPr sz="1600" b="1">
                <a:solidFill>
                  <a:srgbClr val="1C1C22"/>
                </a:solidFill>
                <a:latin typeface="Calibri"/>
              </a:rPr>
              <a:t>Next.js  ·  UI/UX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6060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7432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6BC9"/>
                </a:solidFill>
                <a:latin typeface="Calibri"/>
              </a:rPr>
              <a:t>BACK-END</a:t>
            </a:r>
          </a:p>
          <a:p>
            <a:pPr algn="l"/>
            <a:r>
              <a:rPr sz="1600" b="1">
                <a:solidFill>
                  <a:srgbClr val="1C1C22"/>
                </a:solidFill>
                <a:latin typeface="Calibri"/>
              </a:rPr>
              <a:t>Supabase  ·  DB + Auth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977639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6BC9"/>
                </a:solidFill>
                <a:latin typeface="Calibri"/>
              </a:rPr>
              <a:t>LLM + DEPLOY</a:t>
            </a:r>
          </a:p>
          <a:p>
            <a:pPr algn="l"/>
            <a:r>
              <a:rPr sz="1400" b="1">
                <a:solidFill>
                  <a:srgbClr val="1C1C22"/>
                </a:solidFill>
                <a:latin typeface="Calibri"/>
              </a:rPr>
              <a:t>Google Gemini / OpenRouter</a:t>
            </a:r>
          </a:p>
          <a:p>
            <a:pPr algn="l"/>
            <a:r>
              <a:rPr sz="1300" b="0">
                <a:solidFill>
                  <a:srgbClr val="4E4E5A"/>
                </a:solidFill>
                <a:latin typeface="Calibri"/>
              </a:rPr>
              <a:t>Vercel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5778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Technical feasibility: modular cloud stack, already deployed. AI modules are integrated in architecture and budgeted for completion.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USM Trailblazers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C22"/>
                </a:solidFill>
                <a:latin typeface="Calibri"/>
              </a:rPr>
              <a:t>Budget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4E5A"/>
                </a:solidFill>
                <a:latin typeface="Calibri"/>
              </a:rPr>
              <a:t>RM2,000 Makerpreneur seed fund — strategic software-first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27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29967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Gemini API for Artificial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22"/>
                </a:solidFill>
                <a:latin typeface="Calibri"/>
              </a:rPr>
              <a:t>RM 150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05456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C5B8E8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78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OpenAI Cursor (build tools)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22"/>
                </a:solidFill>
                <a:latin typeface="Calibri"/>
              </a:rPr>
              <a:t>RM 160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980944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540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OpenRouter for AI Chatbot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0540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22"/>
                </a:solidFill>
                <a:latin typeface="Calibri"/>
              </a:rPr>
              <a:t>RM 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56432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C5B8E8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295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22"/>
                </a:solidFill>
                <a:latin typeface="Calibri"/>
              </a:rPr>
              <a:t>Printing / pitch 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5295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22"/>
                </a:solidFill>
                <a:latin typeface="Calibri"/>
              </a:rPr>
              <a:t>RM 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931920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050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22"/>
                </a:solidFill>
                <a:latin typeface="Calibri"/>
              </a:rPr>
              <a:t>Used so 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05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B4BA9"/>
                </a:solidFill>
                <a:latin typeface="Calibri"/>
              </a:rPr>
              <a:t>RM 440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07408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C5B8E8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80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22"/>
                </a:solidFill>
                <a:latin typeface="Calibri"/>
              </a:rPr>
              <a:t>Remaining (future planning)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B4BA9"/>
                </a:solidFill>
                <a:latin typeface="Calibri"/>
              </a:rPr>
              <a:t>RM 1,560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882896"/>
            <a:ext cx="7498079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956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1C22"/>
                </a:solidFill>
                <a:latin typeface="Calibri"/>
              </a:rPr>
              <a:t>TOTAL SEED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5B4BA9"/>
                </a:solidFill>
                <a:latin typeface="Calibri"/>
              </a:rPr>
              <a:t>RM 2,000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1554480"/>
            <a:ext cx="356616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691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BC9"/>
                </a:solidFill>
                <a:latin typeface="Calibri"/>
              </a:rPr>
              <a:t>Remaining RM1,560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011680"/>
            <a:ext cx="32004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• User-testing incentives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• Hosting / domain buffer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• Design assets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• Prototyping extras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• Demo Day contingency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Why lean so far?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Software-first solution — spend on AI access + validation, not unnecessary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6BC9"/>
                </a:solidFill>
                <a:latin typeface="Calibri"/>
              </a:rPr>
              <a:t>USM Trailblazers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C1C22"/>
                </a:solidFill>
                <a:latin typeface="Calibri"/>
              </a:rPr>
              <a:t>Beyond the Prototype: </a:t>
            </a:r>
            <a:r>
              <a:rPr sz="3000" b="1">
                <a:solidFill>
                  <a:srgbClr val="7B6BC9"/>
                </a:solidFill>
                <a:latin typeface="Calibri"/>
              </a:rPr>
              <a:t>Value &amp;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749039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BC9"/>
                </a:solidFill>
                <a:latin typeface="Calibri"/>
              </a:rPr>
              <a:t>Value proposition (why adopt?)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3832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Students: less app fatigue, fewer missed deadlines and merit points.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Management: easier to implement and maintain one long-term channel.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USM: higher engagement + streamlined campus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749039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4DC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7160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6BC9"/>
                </a:solidFill>
                <a:latin typeface="Calibri"/>
              </a:rPr>
              <a:t>Commercial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91640"/>
            <a:ext cx="33832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Cloud modular platform → package as SaaS after USM validation.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Target: education institutions without an integrated campus system.</a:t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4E4E5A"/>
                </a:solidFill>
                <a:latin typeface="Calibri"/>
              </a:rPr>
              <a:t>Expand to regions that still rely on fragmented portals.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474720" cy="4297680"/>
          </a:xfrm>
          <a:prstGeom prst="roundRect">
            <a:avLst>
              <a:gd name="adj" fmla="val 10000"/>
            </a:avLst>
          </a:prstGeom>
          <a:solidFill>
            <a:srgbClr val="5B4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After Demo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Beta with USM students + Digital Officer; refine AI + hub.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Campus-wide rollout; onboard cafeteria/retail vendors.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Commercially available for interested institutions.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72000"/>
            <a:ext cx="7589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B6BC9"/>
                </a:solidFill>
                <a:latin typeface="Calibri"/>
              </a:rPr>
              <a:t>Close</a:t>
            </a:r>
          </a:p>
          <a:p>
            <a:pPr algn="l"/>
            <a:r>
              <a:rPr sz="1400" b="0">
                <a:solidFill>
                  <a:srgbClr val="1C1C22"/>
                </a:solidFill>
                <a:latin typeface="Calibri"/>
              </a:rPr>
              <a:t>StudentHub USM turns a fragmented campus into one daily workspace.</a:t>
            </a:r>
          </a:p>
          <a:p>
            <a:pPr algn="l"/>
            <a:r>
              <a:rPr sz="1400" b="1">
                <a:solidFill>
                  <a:srgbClr val="1C1C22"/>
                </a:solidFill>
                <a:latin typeface="Calibri"/>
              </a:rPr>
              <a:t>Problem validated → solution built → ready to adopt.</a:t>
            </a:r>
          </a:p>
          <a:p>
            <a:pPr algn="l"/>
            <a:r>
              <a:rPr sz="1400" b="0">
                <a:solidFill>
                  <a:srgbClr val="4E4E5A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